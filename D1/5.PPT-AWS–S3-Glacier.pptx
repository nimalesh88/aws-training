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5" r:id="rId4"/>
    <p:sldId id="275" r:id="rId5"/>
    <p:sldId id="266" r:id="rId6"/>
    <p:sldId id="267" r:id="rId7"/>
    <p:sldId id="257" r:id="rId8"/>
    <p:sldId id="258" r:id="rId9"/>
    <p:sldId id="285" r:id="rId10"/>
    <p:sldId id="262" r:id="rId11"/>
    <p:sldId id="286" r:id="rId12"/>
    <p:sldId id="278" r:id="rId13"/>
    <p:sldId id="283" r:id="rId14"/>
    <p:sldId id="281" r:id="rId15"/>
    <p:sldId id="282" r:id="rId16"/>
    <p:sldId id="272" r:id="rId17"/>
    <p:sldId id="279" r:id="rId18"/>
    <p:sldId id="284" r:id="rId19"/>
    <p:sldId id="260" r:id="rId20"/>
    <p:sldId id="268" r:id="rId21"/>
    <p:sldId id="276" r:id="rId22"/>
    <p:sldId id="261" r:id="rId23"/>
    <p:sldId id="264" r:id="rId24"/>
    <p:sldId id="273" r:id="rId25"/>
    <p:sldId id="274" r:id="rId26"/>
    <p:sldId id="320" r:id="rId27"/>
    <p:sldId id="31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5" d="100"/>
          <a:sy n="85" d="100"/>
        </p:scale>
        <p:origin x="499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207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693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288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36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06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083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412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86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65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4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51DDC-3D8E-441D-8B1E-684C450C1B0A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94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0051" y="64144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Vishwanath M S</a:t>
            </a:r>
          </a:p>
          <a:p>
            <a:r>
              <a:rPr lang="en-US" dirty="0"/>
              <a:t>Vishwacloudlab.COM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671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958" y="286603"/>
            <a:ext cx="10058400" cy="9684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958" y="1594826"/>
            <a:ext cx="1005840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1358" y="5985653"/>
            <a:ext cx="1312025" cy="365125"/>
          </a:xfrm>
        </p:spPr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8508989" y="6521337"/>
            <a:ext cx="378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VISHWACLOUDLAB.COM</a:t>
            </a:r>
          </a:p>
        </p:txBody>
      </p:sp>
      <p:pic>
        <p:nvPicPr>
          <p:cNvPr id="9" name="Picture 13">
            <a:extLst>
              <a:ext uri="{FF2B5EF4-FFF2-40B4-BE49-F238E27FC236}">
                <a16:creationId xmlns:a16="http://schemas.microsoft.com/office/drawing/2014/main" id="{E2C8E819-0A3E-4C87-AA0E-ABE31E29C9D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9791" y="6028305"/>
            <a:ext cx="1965758" cy="9144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44301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76815" y="5936522"/>
            <a:ext cx="1312025" cy="365125"/>
          </a:xfrm>
        </p:spPr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 userDrawn="1"/>
        </p:nvSpPr>
        <p:spPr>
          <a:xfrm>
            <a:off x="8508989" y="6521337"/>
            <a:ext cx="378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  <a:latin typeface="Engravers MT" panose="02090707080505020304" pitchFamily="18" charset="0"/>
              </a:rPr>
              <a:t>VISHWACLOUDLAB.COM</a:t>
            </a:r>
          </a:p>
        </p:txBody>
      </p:sp>
    </p:spTree>
    <p:extLst>
      <p:ext uri="{BB962C8B-B14F-4D97-AF65-F5344CB8AC3E}">
        <p14:creationId xmlns:p14="http://schemas.microsoft.com/office/powerpoint/2010/main" val="3447242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8508989" y="6521337"/>
            <a:ext cx="378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VISHWACLOUDLAB.COM</a:t>
            </a:r>
          </a:p>
        </p:txBody>
      </p:sp>
    </p:spTree>
    <p:extLst>
      <p:ext uri="{BB962C8B-B14F-4D97-AF65-F5344CB8AC3E}">
        <p14:creationId xmlns:p14="http://schemas.microsoft.com/office/powerpoint/2010/main" val="2175039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8508989" y="6521337"/>
            <a:ext cx="378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VISHWACLOUDLAB.COM</a:t>
            </a:r>
          </a:p>
        </p:txBody>
      </p:sp>
    </p:spTree>
    <p:extLst>
      <p:ext uri="{BB962C8B-B14F-4D97-AF65-F5344CB8AC3E}">
        <p14:creationId xmlns:p14="http://schemas.microsoft.com/office/powerpoint/2010/main" val="2247208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8508989" y="6521337"/>
            <a:ext cx="378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VISHWACLOUDLAB.COM</a:t>
            </a:r>
          </a:p>
        </p:txBody>
      </p:sp>
    </p:spTree>
    <p:extLst>
      <p:ext uri="{BB962C8B-B14F-4D97-AF65-F5344CB8AC3E}">
        <p14:creationId xmlns:p14="http://schemas.microsoft.com/office/powerpoint/2010/main" val="23466787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8508989" y="6521337"/>
            <a:ext cx="378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85000"/>
                  </a:srgbClr>
                </a:solidFill>
                <a:latin typeface="Engravers MT" panose="02090707080505020304" pitchFamily="18" charset="0"/>
              </a:rPr>
              <a:t>VISHWACLOUDLAB.COM</a:t>
            </a:r>
          </a:p>
        </p:txBody>
      </p:sp>
    </p:spTree>
    <p:extLst>
      <p:ext uri="{BB962C8B-B14F-4D97-AF65-F5344CB8AC3E}">
        <p14:creationId xmlns:p14="http://schemas.microsoft.com/office/powerpoint/2010/main" val="18426226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03344B-D0D9-437D-8838-1FD1C4F164B7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46464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021EC1-E4B6-4332-AEF1-C7424A16BC98}" type="slidenum">
              <a:rPr lang="en-US" smtClean="0">
                <a:solidFill>
                  <a:srgbClr val="46464A"/>
                </a:solidFill>
              </a:rPr>
              <a:pPr/>
              <a:t>‹#›</a:t>
            </a:fld>
            <a:endParaRPr lang="en-US">
              <a:solidFill>
                <a:srgbClr val="46464A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8508989" y="6521337"/>
            <a:ext cx="378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VISHWACLOUDLAB.COM</a:t>
            </a:r>
          </a:p>
        </p:txBody>
      </p:sp>
    </p:spTree>
    <p:extLst>
      <p:ext uri="{BB962C8B-B14F-4D97-AF65-F5344CB8AC3E}">
        <p14:creationId xmlns:p14="http://schemas.microsoft.com/office/powerpoint/2010/main" val="2971932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12189629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8508989" y="6521337"/>
            <a:ext cx="3789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VISHWACLOUDLAB.COM</a:t>
            </a:r>
          </a:p>
        </p:txBody>
      </p:sp>
    </p:spTree>
    <p:extLst>
      <p:ext uri="{BB962C8B-B14F-4D97-AF65-F5344CB8AC3E}">
        <p14:creationId xmlns:p14="http://schemas.microsoft.com/office/powerpoint/2010/main" val="10100074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3344B-D0D9-437D-8838-1FD1C4F164B7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8508989" y="6521337"/>
            <a:ext cx="3795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>
                    <a:lumMod val="50000"/>
                  </a:srgbClr>
                </a:solidFill>
                <a:latin typeface="Engravers MT" panose="02090707080505020304" pitchFamily="18" charset="0"/>
              </a:rPr>
              <a:t>VISHWACLOUDLAB.ORG</a:t>
            </a:r>
          </a:p>
        </p:txBody>
      </p:sp>
    </p:spTree>
    <p:extLst>
      <p:ext uri="{BB962C8B-B14F-4D97-AF65-F5344CB8AC3E}">
        <p14:creationId xmlns:p14="http://schemas.microsoft.com/office/powerpoint/2010/main" val="283495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51DDC-3D8E-441D-8B1E-684C450C1B0A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26E8A-84BC-4175-A475-7CEC61DB005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880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1000">
              <a:schemeClr val="accent1">
                <a:lumMod val="5000"/>
                <a:lumOff val="95000"/>
              </a:schemeClr>
            </a:gs>
            <a:gs pos="98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03344B-D0D9-437D-8838-1FD1C4F164B7}" type="datetimeFigureOut">
              <a:rPr lang="en-US" smtClean="0"/>
              <a:pPr/>
              <a:t>3/7/2022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4058" y="6094660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0021EC1-E4B6-4332-AEF1-C7424A16BC9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608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79" y="758952"/>
            <a:ext cx="10848109" cy="2746248"/>
          </a:xfrm>
        </p:spPr>
        <p:txBody>
          <a:bodyPr>
            <a:normAutofit/>
          </a:bodyPr>
          <a:lstStyle/>
          <a:p>
            <a:r>
              <a:rPr lang="en-US" sz="6000" b="1" dirty="0"/>
              <a:t>AWS – S3- Simple Storage Service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3683000"/>
            <a:ext cx="10058400" cy="1915621"/>
          </a:xfrm>
        </p:spPr>
        <p:txBody>
          <a:bodyPr>
            <a:normAutofit/>
          </a:bodyPr>
          <a:lstStyle/>
          <a:p>
            <a:r>
              <a:rPr lang="en-US" sz="2800" b="1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VishwanaTH</a:t>
            </a:r>
            <a:r>
              <a:rPr lang="en-US" sz="2800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m s</a:t>
            </a:r>
          </a:p>
          <a:p>
            <a:r>
              <a:rPr lang="en-US" sz="2800" b="1" dirty="0">
                <a:solidFill>
                  <a:srgbClr val="0070C0"/>
                </a:solidFill>
                <a:latin typeface="Arial Rounded MT Bold" panose="020F0704030504030204" pitchFamily="34" charset="0"/>
              </a:rPr>
              <a:t>VISHWACLOUDLAB.com</a:t>
            </a:r>
          </a:p>
        </p:txBody>
      </p:sp>
    </p:spTree>
    <p:extLst>
      <p:ext uri="{BB962C8B-B14F-4D97-AF65-F5344CB8AC3E}">
        <p14:creationId xmlns:p14="http://schemas.microsoft.com/office/powerpoint/2010/main" val="34216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958" y="1368323"/>
            <a:ext cx="9797704" cy="438202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1"/>
                </a:solidFill>
              </a:rPr>
              <a:t>Amazon S3 Concepts &amp; Fundamentals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1"/>
                </a:solidFill>
              </a:rPr>
              <a:t>Versioning &amp; Cross-Region replication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1"/>
                </a:solidFill>
              </a:rPr>
              <a:t>Encryption and Security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600" b="1" dirty="0">
                <a:solidFill>
                  <a:schemeClr val="tx1"/>
                </a:solidFill>
              </a:rPr>
              <a:t>Time-Limited Access to Objects</a:t>
            </a:r>
          </a:p>
          <a:p>
            <a:endParaRPr lang="en-US" sz="1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B78403-D6EF-4126-90D3-79273387DBAF}"/>
              </a:ext>
            </a:extLst>
          </p:cNvPr>
          <p:cNvSpPr txBox="1">
            <a:spLocks/>
          </p:cNvSpPr>
          <p:nvPr/>
        </p:nvSpPr>
        <p:spPr>
          <a:xfrm>
            <a:off x="6705830" y="4182875"/>
            <a:ext cx="5192453" cy="24771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000" b="1" dirty="0" err="1">
                <a:solidFill>
                  <a:schemeClr val="tx1"/>
                </a:solidFill>
              </a:rPr>
              <a:t>LifeCycle</a:t>
            </a:r>
            <a:r>
              <a:rPr lang="en-US" sz="4000" b="1" dirty="0">
                <a:solidFill>
                  <a:schemeClr val="tx1"/>
                </a:solidFill>
              </a:rPr>
              <a:t> Rules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</a:rPr>
              <a:t>Website Hosting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</a:rPr>
              <a:t>Audit Logs</a:t>
            </a:r>
          </a:p>
          <a:p>
            <a:endParaRPr lang="en-US" sz="105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419983A-BC55-4CAF-B43F-E70F69632005}"/>
              </a:ext>
            </a:extLst>
          </p:cNvPr>
          <p:cNvSpPr txBox="1">
            <a:spLocks/>
          </p:cNvSpPr>
          <p:nvPr/>
        </p:nvSpPr>
        <p:spPr>
          <a:xfrm>
            <a:off x="692958" y="4182875"/>
            <a:ext cx="5192453" cy="238852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</a:rPr>
              <a:t>Namespaces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</a:rPr>
              <a:t>Access Controls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tx1"/>
                </a:solidFill>
              </a:rPr>
              <a:t>Storage Classes</a:t>
            </a:r>
          </a:p>
          <a:p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011953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746248"/>
          </a:xfrm>
        </p:spPr>
        <p:txBody>
          <a:bodyPr>
            <a:normAutofit/>
          </a:bodyPr>
          <a:lstStyle/>
          <a:p>
            <a:r>
              <a:rPr lang="en-US" sz="7200" dirty="0"/>
              <a:t>      AWS – S3</a:t>
            </a:r>
            <a:br>
              <a:rPr lang="en-US" sz="7200" dirty="0"/>
            </a:br>
            <a:r>
              <a:rPr lang="en-US" sz="7200" dirty="0"/>
              <a:t>	  Simple Storage service</a:t>
            </a:r>
          </a:p>
        </p:txBody>
      </p:sp>
      <p:pic>
        <p:nvPicPr>
          <p:cNvPr id="6" name="Picture 5" descr="S3.png">
            <a:extLst>
              <a:ext uri="{FF2B5EF4-FFF2-40B4-BE49-F238E27FC236}">
                <a16:creationId xmlns:a16="http://schemas.microsoft.com/office/drawing/2014/main" id="{ACD45ED8-31A8-4E49-815D-E1FCB378B0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00" y="1869963"/>
            <a:ext cx="1559037" cy="155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096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Benefits of S3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68C80C-9E86-4352-99AE-8A45BE499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56" y="1255043"/>
            <a:ext cx="10728729" cy="484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518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958" y="1326379"/>
            <a:ext cx="10058400" cy="4672970"/>
          </a:xfrm>
        </p:spPr>
        <p:txBody>
          <a:bodyPr>
            <a:normAutofit/>
          </a:bodyPr>
          <a:lstStyle/>
          <a:p>
            <a:r>
              <a:rPr lang="en-US" sz="3600" b="1" dirty="0"/>
              <a:t>Content Storage &amp; Distribution</a:t>
            </a:r>
          </a:p>
          <a:p>
            <a:r>
              <a:rPr lang="en-US" sz="3600" b="1" dirty="0"/>
              <a:t>Big Data Analytics</a:t>
            </a:r>
          </a:p>
          <a:p>
            <a:r>
              <a:rPr lang="en-US" sz="3600" b="1" dirty="0"/>
              <a:t>Static Website hosting</a:t>
            </a:r>
          </a:p>
          <a:p>
            <a:r>
              <a:rPr lang="en-US" sz="3600" b="1" dirty="0"/>
              <a:t>Cloud-native Application Data</a:t>
            </a:r>
          </a:p>
          <a:p>
            <a:r>
              <a:rPr lang="en-US" sz="3600" b="1" dirty="0"/>
              <a:t>Disaster recovery</a:t>
            </a:r>
          </a:p>
          <a:p>
            <a:r>
              <a:rPr lang="en-US" sz="3600" b="1" dirty="0"/>
              <a:t>Backup &amp; Archiving</a:t>
            </a:r>
          </a:p>
          <a:p>
            <a:r>
              <a:rPr lang="en-US" sz="3600" b="1" dirty="0"/>
              <a:t>Accessed via API’s</a:t>
            </a:r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67746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080" y="286603"/>
            <a:ext cx="10058400" cy="919897"/>
          </a:xfrm>
        </p:spPr>
        <p:txBody>
          <a:bodyPr/>
          <a:lstStyle/>
          <a:p>
            <a:r>
              <a:rPr lang="en-US" b="1" dirty="0"/>
              <a:t>Concepts of S3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7080" y="1206499"/>
            <a:ext cx="1077098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Bucket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It is like a Containers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Bucket name has to be UNIQUE across all the regions of AWS and all accounts.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Eg</a:t>
            </a:r>
            <a:r>
              <a:rPr lang="en-US" sz="2400" dirty="0"/>
              <a:t>:- Like your Gmail ID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By Default max of 100 Buckets can be create per Account.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Each Object has an limitation of 5TB.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Objects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Entities Stored in S3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Consist of Data and Metadata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Metadata  is a set of name-value  pairs that describe the object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Object is uniquely identified within a bucket by a Key and a Version ID.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Files and Folders can be uploaded and downloaded Directly from the Web links.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There is no Dedicated instance created for storing the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Buckets are created on Region Level.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78022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3200" b="1" dirty="0">
                <a:solidFill>
                  <a:schemeClr val="tx1"/>
                </a:solidFill>
                <a:latin typeface="Open Sans"/>
              </a:rPr>
              <a:t>Storage Classes: Comparing Durability and Availability</a:t>
            </a:r>
            <a:endParaRPr lang="en-US" sz="2400" dirty="0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9012381"/>
              </p:ext>
            </p:extLst>
          </p:nvPr>
        </p:nvGraphicFramePr>
        <p:xfrm>
          <a:off x="692958" y="1343082"/>
          <a:ext cx="11345244" cy="5082556"/>
        </p:xfrm>
        <a:graphic>
          <a:graphicData uri="http://schemas.openxmlformats.org/drawingml/2006/table">
            <a:tbl>
              <a:tblPr/>
              <a:tblGrid>
                <a:gridCol w="1706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49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45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9553"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 dirty="0">
                          <a:solidFill>
                            <a:srgbClr val="333333"/>
                          </a:solidFill>
                          <a:effectLst/>
                        </a:rPr>
                        <a:t>Storage Class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28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E5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8E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>
                          <a:solidFill>
                            <a:srgbClr val="333333"/>
                          </a:solidFill>
                          <a:effectLst/>
                        </a:rPr>
                        <a:t>Durability (designed for)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D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>
                          <a:solidFill>
                            <a:srgbClr val="333333"/>
                          </a:solidFill>
                          <a:effectLst/>
                        </a:rPr>
                        <a:t>Availability (designed for)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F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8E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1">
                          <a:solidFill>
                            <a:srgbClr val="333333"/>
                          </a:solidFill>
                          <a:effectLst/>
                        </a:rPr>
                        <a:t>Other Considerations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A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0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679"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STANDARD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6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8E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99.999999999%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40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99.99%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28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None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F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6123"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STANDARD_IA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A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99.999999999%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F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99.9%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F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There is a retrieval fee for STANDARD_IA objects. This class is most suitable for infrequently accessed data. 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D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048"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ONEZONE_IA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D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99.999999999%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F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99.5%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B8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Not resilient to the loss of the Availability Zone.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D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91074"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GLACIER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9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40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8F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99.999999999%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40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E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99.99% (after you restore objects)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28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7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8F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effectLst/>
                        </a:rPr>
                        <a:t>GLACIER objects are not available for real-time access. You must first restore archived objects before you can access them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A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8E6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8F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679"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RRS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F0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8F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99.99%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B8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E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99.99%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D8DF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8F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2000" dirty="0">
                          <a:solidFill>
                            <a:srgbClr val="444444"/>
                          </a:solidFill>
                          <a:effectLst/>
                          <a:latin typeface="Open Sans"/>
                        </a:rPr>
                        <a:t>None</a:t>
                      </a:r>
                    </a:p>
                  </a:txBody>
                  <a:tcPr marL="26775" marR="26775" marT="26775" marB="26775">
                    <a:lnL w="9525" cap="flat" cmpd="sng" algn="ctr">
                      <a:solidFill>
                        <a:srgbClr val="E8D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8F2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97528" y="553306"/>
            <a:ext cx="65" cy="5974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58700" rIns="0" bIns="15870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77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38590-FEFF-4A28-8666-568008BA5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Storage Class Pricing</a:t>
            </a:r>
            <a:endParaRPr lang="en-IN" b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D296692-B1FE-4543-BBAF-BBA0B6C6DB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0519004"/>
              </p:ext>
            </p:extLst>
          </p:nvPr>
        </p:nvGraphicFramePr>
        <p:xfrm>
          <a:off x="693738" y="1595437"/>
          <a:ext cx="10058400" cy="345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4901">
                  <a:extLst>
                    <a:ext uri="{9D8B030D-6E8A-4147-A177-3AD203B41FA5}">
                      <a16:colId xmlns:a16="http://schemas.microsoft.com/office/drawing/2014/main" val="2243488097"/>
                    </a:ext>
                  </a:extLst>
                </a:gridCol>
                <a:gridCol w="3923499">
                  <a:extLst>
                    <a:ext uri="{9D8B030D-6E8A-4147-A177-3AD203B41FA5}">
                      <a16:colId xmlns:a16="http://schemas.microsoft.com/office/drawing/2014/main" val="2317837105"/>
                    </a:ext>
                  </a:extLst>
                </a:gridCol>
              </a:tblGrid>
              <a:tr h="863760">
                <a:tc>
                  <a:txBody>
                    <a:bodyPr/>
                    <a:lstStyle/>
                    <a:p>
                      <a:r>
                        <a:rPr lang="en-IN" sz="4000" dirty="0"/>
                        <a:t>Storage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Pricing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078306"/>
                  </a:ext>
                </a:extLst>
              </a:tr>
              <a:tr h="863760">
                <a:tc>
                  <a:txBody>
                    <a:bodyPr/>
                    <a:lstStyle/>
                    <a:p>
                      <a:r>
                        <a:rPr lang="en-IN" sz="4000" dirty="0"/>
                        <a:t>S3 Standard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$0.023 Per 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1865476"/>
                  </a:ext>
                </a:extLst>
              </a:tr>
              <a:tr h="863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4000" dirty="0"/>
                        <a:t>S3 Standard Storage – 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4000" dirty="0"/>
                        <a:t>$0.0125 Per 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731572"/>
                  </a:ext>
                </a:extLst>
              </a:tr>
              <a:tr h="863760">
                <a:tc>
                  <a:txBody>
                    <a:bodyPr/>
                    <a:lstStyle/>
                    <a:p>
                      <a:r>
                        <a:rPr lang="en-IN" sz="4000" dirty="0"/>
                        <a:t>S3 – One – Zone - 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4000" dirty="0"/>
                        <a:t>$0.01 Per 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563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592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Options in S3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Can Enable Versioning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Encryptions – AWS or KMS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Read/Write access to the Bucket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Read/Write access to the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Server Logging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922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Versioning &amp; Cross-Region replication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958" y="1417320"/>
            <a:ext cx="8095741" cy="402336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Versioning is a means of keeping multiple variants of an object in the same bucket.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Versioning is enabled on the bucket level.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Amazon S3 automatically generates a unique version ID for the object </a:t>
            </a:r>
            <a:r>
              <a:rPr lang="en-US" sz="2800"/>
              <a:t>being stored.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37ACDF1-CEBC-4A99-A20D-03852CD62C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8699" y="1417320"/>
            <a:ext cx="2710343" cy="2785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7367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4908" y="758952"/>
            <a:ext cx="10500772" cy="2746248"/>
          </a:xfrm>
        </p:spPr>
        <p:txBody>
          <a:bodyPr>
            <a:normAutofit/>
          </a:bodyPr>
          <a:lstStyle/>
          <a:p>
            <a:r>
              <a:rPr lang="en-US" sz="6600" b="1" dirty="0"/>
              <a:t>      AWS – S3 – Web Hosting</a:t>
            </a:r>
          </a:p>
        </p:txBody>
      </p:sp>
    </p:spTree>
    <p:extLst>
      <p:ext uri="{BB962C8B-B14F-4D97-AF65-F5344CB8AC3E}">
        <p14:creationId xmlns:p14="http://schemas.microsoft.com/office/powerpoint/2010/main" val="3255677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958" y="286603"/>
            <a:ext cx="10058400" cy="6942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2 Types of Hosting is available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958" y="1238596"/>
            <a:ext cx="10058400" cy="4379590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3600" dirty="0"/>
              <a:t>Client based Hosting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3600" dirty="0"/>
              <a:t>Server based Hosting</a:t>
            </a:r>
          </a:p>
        </p:txBody>
      </p:sp>
    </p:spTree>
    <p:extLst>
      <p:ext uri="{BB962C8B-B14F-4D97-AF65-F5344CB8AC3E}">
        <p14:creationId xmlns:p14="http://schemas.microsoft.com/office/powerpoint/2010/main" val="3843143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6CB7A-7502-494D-8E62-887BAAD2C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Client based Hosting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6315625-C026-49A2-93B5-FF7EFC503E13}"/>
              </a:ext>
            </a:extLst>
          </p:cNvPr>
          <p:cNvSpPr/>
          <p:nvPr/>
        </p:nvSpPr>
        <p:spPr>
          <a:xfrm>
            <a:off x="1463040" y="1633728"/>
            <a:ext cx="2450592" cy="9684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 Server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4D7ADF-C5F2-474B-8E34-5184E35DB430}"/>
              </a:ext>
            </a:extLst>
          </p:cNvPr>
          <p:cNvSpPr/>
          <p:nvPr/>
        </p:nvSpPr>
        <p:spPr>
          <a:xfrm>
            <a:off x="1463040" y="4495800"/>
            <a:ext cx="2084832" cy="145694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Laptop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2F0E0E-2AA6-4C37-BA64-A8BFD08EFDB0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2505456" y="2602168"/>
            <a:ext cx="182880" cy="18936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FA388EE-6653-4C21-981D-C920A5E10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9870" y="1669570"/>
            <a:ext cx="7231842" cy="4755613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The website page gets downloaded to the Laptop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Then the page is proceed and shown on the screen.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Typical example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/>
              <a:t>Html pages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/>
              <a:t>Videos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/>
              <a:t>Audios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Means, the data is only stored in the central webserver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Processing of that data happens on the machine that is accessing it</a:t>
            </a:r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39B76CAA-AF50-4DFE-8399-94737E1A710F}"/>
              </a:ext>
            </a:extLst>
          </p:cNvPr>
          <p:cNvSpPr/>
          <p:nvPr/>
        </p:nvSpPr>
        <p:spPr>
          <a:xfrm>
            <a:off x="1670304" y="2084832"/>
            <a:ext cx="499872" cy="414528"/>
          </a:xfrm>
          <a:prstGeom prst="fram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9180636E-F7E1-4C6E-B6B5-F2F1A2844606}"/>
              </a:ext>
            </a:extLst>
          </p:cNvPr>
          <p:cNvSpPr/>
          <p:nvPr/>
        </p:nvSpPr>
        <p:spPr>
          <a:xfrm>
            <a:off x="1670304" y="2084832"/>
            <a:ext cx="499872" cy="414528"/>
          </a:xfrm>
          <a:prstGeom prst="fram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3FB7F9C-9235-487D-AFC6-7DD838F9861E}"/>
              </a:ext>
            </a:extLst>
          </p:cNvPr>
          <p:cNvSpPr/>
          <p:nvPr/>
        </p:nvSpPr>
        <p:spPr>
          <a:xfrm>
            <a:off x="2170176" y="4644189"/>
            <a:ext cx="368487" cy="37297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D0B0E890-C1FB-4858-917B-B2D6D1A8224F}"/>
              </a:ext>
            </a:extLst>
          </p:cNvPr>
          <p:cNvSpPr/>
          <p:nvPr/>
        </p:nvSpPr>
        <p:spPr>
          <a:xfrm>
            <a:off x="2764536" y="4596062"/>
            <a:ext cx="481263" cy="372979"/>
          </a:xfrm>
          <a:prstGeom prst="diamond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18B6917-6E06-48E5-9438-118BC17315D4}"/>
              </a:ext>
            </a:extLst>
          </p:cNvPr>
          <p:cNvSpPr/>
          <p:nvPr/>
        </p:nvSpPr>
        <p:spPr>
          <a:xfrm>
            <a:off x="2359473" y="5317958"/>
            <a:ext cx="1188399" cy="63478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Website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FAD14660-1581-435E-A1D5-1D40181CA4AB}"/>
              </a:ext>
            </a:extLst>
          </p:cNvPr>
          <p:cNvSpPr/>
          <p:nvPr/>
        </p:nvSpPr>
        <p:spPr>
          <a:xfrm>
            <a:off x="2892230" y="5049411"/>
            <a:ext cx="225873" cy="2071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29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0185 L -0.00377 0.3659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3" y="18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6CB7A-7502-494D-8E62-887BAAD2C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Server based Hosting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6315625-C026-49A2-93B5-FF7EFC503E13}"/>
              </a:ext>
            </a:extLst>
          </p:cNvPr>
          <p:cNvSpPr/>
          <p:nvPr/>
        </p:nvSpPr>
        <p:spPr>
          <a:xfrm>
            <a:off x="1463040" y="1633728"/>
            <a:ext cx="2450592" cy="9684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 Server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4D7ADF-C5F2-474B-8E34-5184E35DB430}"/>
              </a:ext>
            </a:extLst>
          </p:cNvPr>
          <p:cNvSpPr/>
          <p:nvPr/>
        </p:nvSpPr>
        <p:spPr>
          <a:xfrm>
            <a:off x="1463040" y="4495800"/>
            <a:ext cx="2084832" cy="145694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Laptop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2F0E0E-2AA6-4C37-BA64-A8BFD08EFDB0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2505456" y="2602168"/>
            <a:ext cx="182880" cy="18936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FA388EE-6653-4C21-981D-C920A5E10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9870" y="1669570"/>
            <a:ext cx="7231842" cy="4755613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The script file is processed on the server itself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Only the output is sent to the machine that is accessing it.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Typical example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/>
              <a:t>Java based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 err="1"/>
              <a:t>.net</a:t>
            </a:r>
            <a:endParaRPr lang="en-US" sz="20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/>
              <a:t>Python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2000" dirty="0"/>
              <a:t>php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39B76CAA-AF50-4DFE-8399-94737E1A710F}"/>
              </a:ext>
            </a:extLst>
          </p:cNvPr>
          <p:cNvSpPr/>
          <p:nvPr/>
        </p:nvSpPr>
        <p:spPr>
          <a:xfrm>
            <a:off x="1644305" y="1722166"/>
            <a:ext cx="499872" cy="414528"/>
          </a:xfrm>
          <a:prstGeom prst="fram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5F01AB7-FE59-48C4-96BE-F603294BE76C}"/>
              </a:ext>
            </a:extLst>
          </p:cNvPr>
          <p:cNvSpPr/>
          <p:nvPr/>
        </p:nvSpPr>
        <p:spPr>
          <a:xfrm>
            <a:off x="1698867" y="2182941"/>
            <a:ext cx="382735" cy="372979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iamond 11">
            <a:extLst>
              <a:ext uri="{FF2B5EF4-FFF2-40B4-BE49-F238E27FC236}">
                <a16:creationId xmlns:a16="http://schemas.microsoft.com/office/drawing/2014/main" id="{885783E6-3590-419F-8D08-FEA1CFB63198}"/>
              </a:ext>
            </a:extLst>
          </p:cNvPr>
          <p:cNvSpPr/>
          <p:nvPr/>
        </p:nvSpPr>
        <p:spPr>
          <a:xfrm>
            <a:off x="2244619" y="2182941"/>
            <a:ext cx="499872" cy="372979"/>
          </a:xfrm>
          <a:prstGeom prst="diamond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1D9BA4C0-9D94-4B5F-AF4B-897C6676FDCD}"/>
              </a:ext>
            </a:extLst>
          </p:cNvPr>
          <p:cNvSpPr/>
          <p:nvPr/>
        </p:nvSpPr>
        <p:spPr>
          <a:xfrm>
            <a:off x="3325186" y="2136694"/>
            <a:ext cx="499872" cy="414528"/>
          </a:xfrm>
          <a:prstGeom prst="fram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A764057-8795-48F0-A67F-8A87F569559A}"/>
              </a:ext>
            </a:extLst>
          </p:cNvPr>
          <p:cNvSpPr/>
          <p:nvPr/>
        </p:nvSpPr>
        <p:spPr>
          <a:xfrm>
            <a:off x="2359473" y="5317958"/>
            <a:ext cx="1188399" cy="634786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WEB Page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B3961B16-C4A1-4643-8C90-A4C37A0E3213}"/>
              </a:ext>
            </a:extLst>
          </p:cNvPr>
          <p:cNvSpPr/>
          <p:nvPr/>
        </p:nvSpPr>
        <p:spPr>
          <a:xfrm>
            <a:off x="2892230" y="5049411"/>
            <a:ext cx="225873" cy="2071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3EEB644-2778-4073-A0DE-DB6F9958E4FE}"/>
              </a:ext>
            </a:extLst>
          </p:cNvPr>
          <p:cNvSpPr/>
          <p:nvPr/>
        </p:nvSpPr>
        <p:spPr>
          <a:xfrm>
            <a:off x="2819361" y="2182941"/>
            <a:ext cx="382735" cy="372979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68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03 -0.00301 L -0.00703 -0.00301 L -0.04557 0.34074 " pathEditMode="relative" ptsTypes="AAA">
                                      <p:cBhvr>
                                        <p:cTn id="2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3" grpId="1" animBg="1"/>
      <p:bldP spid="14" grpId="0" animBg="1"/>
      <p:bldP spid="15" grpId="0" animBg="1"/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958" y="286603"/>
            <a:ext cx="10058400" cy="6942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S3- Web Hosting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958" y="1238596"/>
            <a:ext cx="10058400" cy="4379590"/>
          </a:xfrm>
        </p:spPr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You can host a static website on Amazon Simple Storage Service (Amazon S3)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They might also contain client-side scripts such HTML, Node.js.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Amazon S3 </a:t>
            </a:r>
            <a:r>
              <a:rPr lang="en-US" sz="2400" b="1" dirty="0"/>
              <a:t>does not </a:t>
            </a:r>
            <a:r>
              <a:rPr lang="en-US" sz="2400" dirty="0"/>
              <a:t>support server-side scripting such as such as PHP, JSP, or ASP.NET.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46518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4908" y="758952"/>
            <a:ext cx="10500772" cy="2746248"/>
          </a:xfrm>
        </p:spPr>
        <p:txBody>
          <a:bodyPr>
            <a:normAutofit/>
          </a:bodyPr>
          <a:lstStyle/>
          <a:p>
            <a:r>
              <a:rPr lang="en-US" sz="7200" dirty="0"/>
              <a:t>      AWS – S3 – Replication</a:t>
            </a:r>
          </a:p>
        </p:txBody>
      </p:sp>
    </p:spTree>
    <p:extLst>
      <p:ext uri="{BB962C8B-B14F-4D97-AF65-F5344CB8AC3E}">
        <p14:creationId xmlns:p14="http://schemas.microsoft.com/office/powerpoint/2010/main" val="3466530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019E-346B-4234-8F47-4F0F13890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S3 – Replication – Use Case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3CE1EB-A961-49DF-96C1-A993122A4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958" y="1594826"/>
            <a:ext cx="10058400" cy="402336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Maintain Audit compliance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As a DR/BCP Plan, customer might need data to be replicated in different location.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Give users a local access within that country for a faster access.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648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958" y="286603"/>
            <a:ext cx="10058400" cy="6942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S3- Replication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958" y="1239205"/>
            <a:ext cx="10765264" cy="5332192"/>
          </a:xfrm>
        </p:spPr>
        <p:txBody>
          <a:bodyPr>
            <a:noAutofit/>
          </a:bodyPr>
          <a:lstStyle/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It is a copy of the existing S3 Bucket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Replication of S3 bucket CAN be done in the same Region </a:t>
            </a:r>
            <a:r>
              <a:rPr lang="en-US" sz="2400"/>
              <a:t>or Diff region.</a:t>
            </a:r>
            <a:endParaRPr lang="en-US" sz="2400" dirty="0"/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Either complete Bucket can be replicated or based on some “Prefix” values data can be replicated.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Replication can be done to a Different Account S3 Bucket as well.</a:t>
            </a:r>
          </a:p>
          <a:p>
            <a:pPr marL="525780" lvl="2" indent="-342900">
              <a:lnSpc>
                <a:spcPct val="110000"/>
              </a:lnSpc>
              <a:spcBef>
                <a:spcPts val="6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/>
              <a:t>Create a Bucket Policy on the destination Bucket to allow the source </a:t>
            </a:r>
            <a:r>
              <a:rPr lang="en-US" sz="2000" dirty="0" err="1"/>
              <a:t>aws</a:t>
            </a:r>
            <a:r>
              <a:rPr lang="en-US" sz="2000" dirty="0"/>
              <a:t> account to copy the data.</a:t>
            </a:r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Replication is a backup of the Source Bucket.</a:t>
            </a:r>
          </a:p>
          <a:p>
            <a:pPr marL="525780" lvl="2" indent="-342900">
              <a:lnSpc>
                <a:spcPct val="110000"/>
              </a:lnSpc>
              <a:spcBef>
                <a:spcPts val="6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2000" dirty="0"/>
              <a:t>If the file is deleted on the Source bucket , it would NOT be deleted on the destination bucket automatically.</a:t>
            </a:r>
          </a:p>
          <a:p>
            <a:pPr marL="342900" lvl="1" indent="-342900">
              <a:lnSpc>
                <a:spcPct val="110000"/>
              </a:lnSpc>
              <a:spcBef>
                <a:spcPts val="6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lnSpc>
                <a:spcPct val="11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Replication is effective to the files uploaded after Enabling the Replication feature</a:t>
            </a:r>
          </a:p>
        </p:txBody>
      </p:sp>
    </p:spTree>
    <p:extLst>
      <p:ext uri="{BB962C8B-B14F-4D97-AF65-F5344CB8AC3E}">
        <p14:creationId xmlns:p14="http://schemas.microsoft.com/office/powerpoint/2010/main" val="66602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S3 – Replication - 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Cross-Region Replication Pricing</a:t>
            </a:r>
          </a:p>
          <a:p>
            <a:r>
              <a:rPr lang="en-US" dirty="0"/>
              <a:t>You pay the Amazon S3 charges for </a:t>
            </a:r>
          </a:p>
          <a:p>
            <a:r>
              <a:rPr lang="en-US" dirty="0"/>
              <a:t>Storage </a:t>
            </a:r>
          </a:p>
          <a:p>
            <a:r>
              <a:rPr lang="en-US" dirty="0"/>
              <a:t>Requests</a:t>
            </a:r>
          </a:p>
          <a:p>
            <a:r>
              <a:rPr lang="en-US" dirty="0"/>
              <a:t>Inter-region data transfer for the replicated copy of data in addition to the storage charges for the primary copy. </a:t>
            </a:r>
          </a:p>
          <a:p>
            <a:r>
              <a:rPr lang="en-US" dirty="0"/>
              <a:t>Pricing for the replicated copy of storage is based on the destination region, while pricing for requests and inter-region data transfer are based on the source region.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0821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2746248"/>
          </a:xfrm>
        </p:spPr>
        <p:txBody>
          <a:bodyPr>
            <a:normAutofit/>
          </a:bodyPr>
          <a:lstStyle/>
          <a:p>
            <a:r>
              <a:rPr lang="en-US" sz="7200" dirty="0"/>
              <a:t>      AWS – Glacier</a:t>
            </a:r>
          </a:p>
        </p:txBody>
      </p:sp>
      <p:pic>
        <p:nvPicPr>
          <p:cNvPr id="4" name="Picture 3" descr="Glacier.png">
            <a:extLst>
              <a:ext uri="{FF2B5EF4-FFF2-40B4-BE49-F238E27FC236}">
                <a16:creationId xmlns:a16="http://schemas.microsoft.com/office/drawing/2014/main" id="{86A9DDD9-D66E-4D2A-AFB7-77CE3004D2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905" y="1869963"/>
            <a:ext cx="1559037" cy="155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484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S3 -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958" y="1313411"/>
            <a:ext cx="10058400" cy="5064811"/>
          </a:xfrm>
        </p:spPr>
        <p:txBody>
          <a:bodyPr>
            <a:normAutofit lnSpcReduction="10000"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3 Types of </a:t>
            </a:r>
            <a:r>
              <a:rPr lang="en-US" sz="2400" dirty="0" err="1"/>
              <a:t>LifeCycle</a:t>
            </a:r>
            <a:r>
              <a:rPr lang="en-US" sz="2400" dirty="0"/>
              <a:t> of S3 Bucket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/>
              <a:t>The Data in S3 Can be moved to “Standard –IA”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/>
              <a:t>The Data in S3 Can be moved to “Once-Zone – IA”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800" dirty="0"/>
              <a:t>The Data in S3 Can be Archived(moved and </a:t>
            </a:r>
            <a:r>
              <a:rPr lang="en-US" sz="1800" dirty="0" err="1"/>
              <a:t>OFFline</a:t>
            </a:r>
            <a:r>
              <a:rPr lang="en-US" sz="1800" dirty="0"/>
              <a:t> data) to “</a:t>
            </a:r>
            <a:r>
              <a:rPr lang="en-US" sz="1800" b="1" dirty="0"/>
              <a:t>Glacier</a:t>
            </a:r>
            <a:r>
              <a:rPr lang="en-US" sz="1800" dirty="0"/>
              <a:t>”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To transition the data to “</a:t>
            </a:r>
            <a:r>
              <a:rPr lang="en-US" sz="2400" b="1" dirty="0"/>
              <a:t>Standard-IA</a:t>
            </a:r>
            <a:r>
              <a:rPr lang="en-US" sz="2400" dirty="0"/>
              <a:t>” and “</a:t>
            </a:r>
            <a:r>
              <a:rPr lang="en-US" sz="2400" b="1" dirty="0"/>
              <a:t>one-Zone-IA</a:t>
            </a:r>
            <a:r>
              <a:rPr lang="en-US" sz="2400" dirty="0"/>
              <a:t>”, the data has to be min of “</a:t>
            </a:r>
            <a:r>
              <a:rPr lang="en-US" sz="2400" b="1" dirty="0"/>
              <a:t>30</a:t>
            </a:r>
            <a:r>
              <a:rPr lang="en-US" sz="2400" dirty="0"/>
              <a:t>” days old.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To Archive the data to </a:t>
            </a:r>
            <a:r>
              <a:rPr lang="en-US" sz="2400" b="1" dirty="0"/>
              <a:t>Glacier</a:t>
            </a:r>
            <a:r>
              <a:rPr lang="en-US" sz="2400" dirty="0"/>
              <a:t>, the data can be min of “1” day old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We can apply the rules either on “Current Version” or “Previous Version’s” of the files.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Once the data is set to expire, we </a:t>
            </a:r>
            <a:r>
              <a:rPr lang="en-US" sz="2400" b="1" dirty="0">
                <a:solidFill>
                  <a:srgbClr val="FF0000"/>
                </a:solidFill>
              </a:rPr>
              <a:t>cannot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RETRIVE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the data after it is deleted.</a:t>
            </a:r>
          </a:p>
        </p:txBody>
      </p:sp>
    </p:spTree>
    <p:extLst>
      <p:ext uri="{BB962C8B-B14F-4D97-AF65-F5344CB8AC3E}">
        <p14:creationId xmlns:p14="http://schemas.microsoft.com/office/powerpoint/2010/main" val="14603668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S3 – </a:t>
            </a:r>
            <a:r>
              <a:rPr lang="en-US" dirty="0" err="1"/>
              <a:t>LifeCycle</a:t>
            </a:r>
            <a:r>
              <a:rPr lang="en-US" dirty="0"/>
              <a:t> – Glacier – Output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222" y="1255043"/>
            <a:ext cx="7897872" cy="532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056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CFA35-1DDF-447A-B51F-CD1FC2E6B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Glacier - Pricing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640696-5299-465A-AF0E-E16A9E3CC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542" y="1255043"/>
            <a:ext cx="9715500" cy="517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6650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B3F90-C9E2-456D-996D-4B8CC3B09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7B143B-D0AF-4BFE-8BAB-34F0D5E43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223837"/>
            <a:ext cx="11639550" cy="641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533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4133F1-205F-4FED-B18C-D4DA130FCD53}"/>
              </a:ext>
            </a:extLst>
          </p:cNvPr>
          <p:cNvSpPr/>
          <p:nvPr/>
        </p:nvSpPr>
        <p:spPr>
          <a:xfrm>
            <a:off x="986118" y="824753"/>
            <a:ext cx="1308847" cy="7799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Data in Standard class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276550E-FEE1-465E-A4EB-7FA116DCB93C}"/>
              </a:ext>
            </a:extLst>
          </p:cNvPr>
          <p:cNvSpPr/>
          <p:nvPr/>
        </p:nvSpPr>
        <p:spPr>
          <a:xfrm>
            <a:off x="2294965" y="981635"/>
            <a:ext cx="1308847" cy="4661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36C39C-0DDD-4D02-80D2-137C2DF718A5}"/>
              </a:ext>
            </a:extLst>
          </p:cNvPr>
          <p:cNvSpPr txBox="1"/>
          <p:nvPr/>
        </p:nvSpPr>
        <p:spPr>
          <a:xfrm>
            <a:off x="2445083" y="640086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180 days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7F00A9-45E2-40D9-8559-0386C69B6D11}"/>
              </a:ext>
            </a:extLst>
          </p:cNvPr>
          <p:cNvSpPr/>
          <p:nvPr/>
        </p:nvSpPr>
        <p:spPr>
          <a:xfrm>
            <a:off x="3603812" y="824753"/>
            <a:ext cx="1308847" cy="7799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Data in Glacier class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3F044CF-34EE-4C0F-A3BF-8DA8E9B2CE75}"/>
              </a:ext>
            </a:extLst>
          </p:cNvPr>
          <p:cNvSpPr/>
          <p:nvPr/>
        </p:nvSpPr>
        <p:spPr>
          <a:xfrm>
            <a:off x="4912659" y="981635"/>
            <a:ext cx="1308847" cy="4661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AC826D-9024-437C-A775-2927026B0DA7}"/>
              </a:ext>
            </a:extLst>
          </p:cNvPr>
          <p:cNvSpPr txBox="1"/>
          <p:nvPr/>
        </p:nvSpPr>
        <p:spPr>
          <a:xfrm>
            <a:off x="4928631" y="640086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365*5 days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E0E43A-CB67-476E-8B3E-D03D264662DC}"/>
              </a:ext>
            </a:extLst>
          </p:cNvPr>
          <p:cNvSpPr/>
          <p:nvPr/>
        </p:nvSpPr>
        <p:spPr>
          <a:xfrm>
            <a:off x="6221506" y="824753"/>
            <a:ext cx="1308847" cy="7799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Data to Expire</a:t>
            </a:r>
          </a:p>
        </p:txBody>
      </p:sp>
    </p:spTree>
    <p:extLst>
      <p:ext uri="{BB962C8B-B14F-4D97-AF65-F5344CB8AC3E}">
        <p14:creationId xmlns:p14="http://schemas.microsoft.com/office/powerpoint/2010/main" val="30195023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8">
            <a:extLst>
              <a:ext uri="{FF2B5EF4-FFF2-40B4-BE49-F238E27FC236}">
                <a16:creationId xmlns:a16="http://schemas.microsoft.com/office/drawing/2014/main" id="{D3B27D14-ADEA-4D31-B720-4C0F3D0B90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37" b="-2"/>
          <a:stretch/>
        </p:blipFill>
        <p:spPr>
          <a:xfrm>
            <a:off x="20" y="10"/>
            <a:ext cx="7534636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70317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46464A"/>
      </a:dk2>
      <a:lt2>
        <a:srgbClr val="D1D9E1"/>
      </a:lt2>
      <a:accent1>
        <a:srgbClr val="6F6F74"/>
      </a:accent1>
      <a:accent2>
        <a:srgbClr val="A7B789"/>
      </a:accent2>
      <a:accent3>
        <a:srgbClr val="BEAE98"/>
      </a:accent3>
      <a:accent4>
        <a:srgbClr val="92A9B9"/>
      </a:accent4>
      <a:accent5>
        <a:srgbClr val="9C8265"/>
      </a:accent5>
      <a:accent6>
        <a:srgbClr val="8D6974"/>
      </a:accent6>
      <a:hlink>
        <a:srgbClr val="67AABF"/>
      </a:hlink>
      <a:folHlink>
        <a:srgbClr val="B1B5AB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BAB94BD4-5D6D-4148-AB57-A4CCF1FD4E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5815</TotalTime>
  <Words>966</Words>
  <Application>Microsoft Office PowerPoint</Application>
  <PresentationFormat>Widescreen</PresentationFormat>
  <Paragraphs>167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Arial Rounded MT Bold</vt:lpstr>
      <vt:lpstr>Calibri</vt:lpstr>
      <vt:lpstr>Calibri Light</vt:lpstr>
      <vt:lpstr>Engravers MT</vt:lpstr>
      <vt:lpstr>Open Sans</vt:lpstr>
      <vt:lpstr>Office Theme</vt:lpstr>
      <vt:lpstr>Retrospect</vt:lpstr>
      <vt:lpstr>AWS – S3- Simple Storage Service</vt:lpstr>
      <vt:lpstr>Agenda</vt:lpstr>
      <vt:lpstr>      AWS – S3    Simple Storage service</vt:lpstr>
      <vt:lpstr>Benefits of S3</vt:lpstr>
      <vt:lpstr>Use Cases</vt:lpstr>
      <vt:lpstr>Concepts of S3</vt:lpstr>
      <vt:lpstr>Storage Classes: Comparing Durability and Availability</vt:lpstr>
      <vt:lpstr>Storage Class Pricing</vt:lpstr>
      <vt:lpstr>Options in S3</vt:lpstr>
      <vt:lpstr>Versioning &amp; Cross-Region replication</vt:lpstr>
      <vt:lpstr>      AWS – S3 – Web Hosting</vt:lpstr>
      <vt:lpstr>2 Types of Hosting is available </vt:lpstr>
      <vt:lpstr>Client based Hosting</vt:lpstr>
      <vt:lpstr>Server based Hosting</vt:lpstr>
      <vt:lpstr>S3- Web Hosting</vt:lpstr>
      <vt:lpstr>      AWS – S3 – Replication</vt:lpstr>
      <vt:lpstr>S3 – Replication – Use Case</vt:lpstr>
      <vt:lpstr>S3- Replication</vt:lpstr>
      <vt:lpstr>S3 – Replication - Pricing</vt:lpstr>
      <vt:lpstr>      AWS – Glacier</vt:lpstr>
      <vt:lpstr>S3 - Lifecycle</vt:lpstr>
      <vt:lpstr>S3 – LifeCycle – Glacier – Output  </vt:lpstr>
      <vt:lpstr>Glacier - Pricing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– S3- Simple Storage Service</dc:title>
  <dc:creator>Vishwanath Ms</dc:creator>
  <cp:lastModifiedBy>Vishwa M S</cp:lastModifiedBy>
  <cp:revision>3</cp:revision>
  <dcterms:created xsi:type="dcterms:W3CDTF">2020-06-10T09:58:55Z</dcterms:created>
  <dcterms:modified xsi:type="dcterms:W3CDTF">2022-03-08T14:44:19Z</dcterms:modified>
</cp:coreProperties>
</file>